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-914400"/>
            <a:ext cx="5486400" cy="82296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9B6BFF"/>
              </a:gs>
              <a:gs pos="100000">
                <a:srgbClr val="F5F7FB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托管班 · 学生学习管理系统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412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72B"/>
                </a:solidFill>
                <a:latin typeface="Microsoft YaHei"/>
              </a:rPr>
              <a:t>把签到、打卡、点评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72B"/>
                </a:solidFill>
                <a:latin typeface="Microsoft YaHei"/>
              </a:rPr>
              <a:t>变成家长愿意转发的成长记录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749807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65B7A"/>
                </a:solidFill>
                <a:latin typeface="Microsoft YaHei"/>
              </a:rPr>
              <a:t>一套面向课后托管 / 晚辅机构的多租户管理系统——托管看板、课外课消课计费、账单管理、多机构运营监控，机构管理员、教师、家长三端一次打通。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146303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565B7A"/>
                </a:solidFill>
                <a:latin typeface="Microsoft YaHei"/>
              </a:rPr>
              <a:t>多机构 · 多身份隔离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59" y="5029200"/>
            <a:ext cx="1572768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565B7A"/>
                </a:solidFill>
                <a:latin typeface="Microsoft YaHei"/>
              </a:rPr>
              <a:t>托管 + 课外课统一计费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5029200"/>
            <a:ext cx="1024128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565B7A"/>
                </a:solidFill>
                <a:latin typeface="Microsoft YaHei"/>
              </a:rPr>
              <a:t>家长免登录分享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94375" y="5029200"/>
            <a:ext cx="146303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565B7A"/>
                </a:solidFill>
                <a:latin typeface="Microsoft YaHei"/>
              </a:rPr>
              <a:t>机构自服务，渠道零驻场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806440"/>
            <a:ext cx="91440" cy="91440"/>
          </a:xfrm>
          <a:prstGeom prst="ellipse">
            <a:avLst/>
          </a:prstGeom>
          <a:solidFill>
            <a:srgbClr val="1E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74243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489A6"/>
                </a:solidFill>
                <a:latin typeface="Microsoft YaHei"/>
              </a:rPr>
              <a:t>已有真实机构在生产环境试用，处于真实场景打磨阶段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机构的真实困境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托管班不缺生源，缺的是“让家长看得见”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5B7A"/>
                </a:solidFill>
                <a:latin typeface="Microsoft YaHei"/>
              </a:rPr>
              <a:t>大部分机构还停留在纸质登记本和班级微信群阶段，老师、家长、财务都在为信息不同步买单。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83A"/>
                </a:solidFill>
                <a:latin typeface="Microsoft YaHei"/>
              </a:rPr>
              <a:t>PAIN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172B"/>
                </a:solidFill>
                <a:latin typeface="Microsoft YaHei"/>
              </a:rPr>
              <a:t>家长看不到过程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只在接孩子时听一句“今天挺好的”，续费全靠信任，缺乏可展示的证据。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5740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83A"/>
                </a:solidFill>
                <a:latin typeface="Microsoft YaHei"/>
              </a:rPr>
              <a:t>PAIN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963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172B"/>
                </a:solidFill>
                <a:latin typeface="Microsoft YaHei"/>
              </a:rPr>
              <a:t>老师重复劳动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8346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同校同班作业重复登记，课外课和托管班又是两套账务规则，老师要分心记两遍。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5740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19456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83A"/>
                </a:solidFill>
                <a:latin typeface="Microsoft YaHei"/>
              </a:rPr>
              <a:t>PAIN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4963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172B"/>
                </a:solidFill>
                <a:latin typeface="Microsoft YaHei"/>
              </a:rPr>
              <a:t>人员流动交接乱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83464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老师离职、换班带班，学生、任务记录、历史评价常常跟着一起丢失或对不上。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83A"/>
                </a:solidFill>
                <a:latin typeface="Microsoft YaHei"/>
              </a:rPr>
              <a:t>PAIN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172B"/>
                </a:solidFill>
                <a:latin typeface="Microsoft YaHei"/>
              </a:rPr>
              <a:t>多机构管理失控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加盟/连锁模式下，总部对各分部的教师、班级、账号缺少统一入口和只读监督。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06908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2062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83A"/>
                </a:solidFill>
                <a:latin typeface="Microsoft YaHei"/>
              </a:rPr>
              <a:t>PAIN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5079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172B"/>
                </a:solidFill>
                <a:latin typeface="Microsoft YaHei"/>
              </a:rPr>
              <a:t>财务核算容易漏单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84632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课外课谁充过值、谁该收钱，全靠人工翻流水，月底对账经常漏掉纯课外课学生。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产品如何落地到日常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一个托管日，六个动作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5B7A"/>
                </a:solidFill>
                <a:latin typeface="Microsoft YaHei"/>
              </a:rPr>
              <a:t>不改变机构原有的接送、辅导流程，只是把已经在做的事情记录下来、同步给家长。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9456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入园签到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9067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老师在班级看板上记录到校时间，缺勤/迟到一目了然。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1168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81144" y="219456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78892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布置任务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9067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从任务模板库选科目和内容，同校同班学生自动同步布置，不用逐个手动录入。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1168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19456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逐项打卡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9067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学生完成一项、老师勾选一项，看板卡片颜色随完成度实时变化。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6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420624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80060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评分 + 点评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10235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五星评价加一句话点评，几秒钟写完，比口头反馈更容易被家长记住。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402336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81144" y="420624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80060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确认放学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10235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班级统一标记放学，未完成任务的孩子会用醒目颜色提醒老师和家长。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023360"/>
            <a:ext cx="342900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00600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家长收到成长海报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02352"/>
            <a:ext cx="3026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一张可直接转发到微信的成长海报，加上月度统计链接，家长免登录随时查看。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功能全景 · 托管看板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覆盖机构、教师、家长三方视角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9339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多租户机构架构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50592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机构 → 教师 → 教学单元 → 学生层层隔离，跨机构访问一律拒绝，数据互不可见。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828800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99339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任务模板库 + 同班自动同步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450592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给一个学生布置自定义任务，系统自动帮同校同班的其他学生一并布置。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9339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看板式完成度追踪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50592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全部完成显示完成印章，放学仍未完成用红色提醒，一眼知道该催谁。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8503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8496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每日星级评价与点评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06824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一分钟内留下当天的评分和一句话点评，沉淀为可回顾的成长记录。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368503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8496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到校 / 放学打卡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4306824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记录到校时间，班级统一确认放学状态，替代人工喊话和纸质签到表。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685032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96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4172B"/>
                </a:solidFill>
                <a:latin typeface="Microsoft YaHei"/>
              </a:rPr>
              <a:t>月度统计报表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06824"/>
            <a:ext cx="302666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5B7A"/>
                </a:solidFill>
                <a:latin typeface="Microsoft YaHei"/>
              </a:rPr>
              <a:t>按月汇总出勤、完成率、评价，教师和家长都能按月份翻看历史表现。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功能全景 · 课外课消课与计费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充值覆盖 + 月度账单兜底，一套规则到底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960120"/>
          </a:xfrm>
          <a:prstGeom prst="roundRect">
            <a:avLst/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4172B"/>
                </a:solidFill>
                <a:latin typeface="Microsoft YaHei"/>
              </a:rPr>
              <a:t>不管学生是否同时在托管班，课外课的充值和消课都走同一套结算规则——充值余额优先覆盖消课，没覆盖的部分月底自动计入账单，不需要老师或财务人工区分两套账。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70632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点名默认全勾，少勾一下就是没来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未勾选的学生不生成任何消课记录，不额外扣费。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57600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5701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确认消课前二次确认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“请确认针对N个孩子进行消课处理吗，此操作不可更改？”——消课会扣课时，二次确认防误操作。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44568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4398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余额不足会标红提醒，但不会卡住点名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提醒老师及时让管理员去跟进续费，流程不中断。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31536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3095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纯课外课学生和托管班学生，结算规则完全一样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有没有托管班只影响账单里要不要加学费/餐费，不影响课外课怎么算钱。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功能全景 · 账单管理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月底对账，一键搞定全机构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10512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一键生成本月全机构账单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覆盖托管班学生和纯课外课学生——纯课外课学生账单学费/餐费记 0，只汇总课外课附加费，不会被漏掉。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账单自动汇总四项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学费 + 餐费（按实际用餐天数）+ 请假扣减 + 课外课未被充值覆盖的附加费，逐项可查明细。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8386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账单欠费总览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机构总览页一眼看到全机构还有多少笔、多少钱没收，点击直接跳转账单管理核对。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标记已付 / 未付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核对无误后一键标记，回款状态清晰可追溯。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功能全景 · 平台管理后台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面向渠道/总部的跨机构视角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10512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一键开通新机构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生成机构 + 该机构首个管理员账号，初始密码当场展示，无需工程师介入部署。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试用 / 续费到期跟踪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到期前 7 天自动变橙色提醒，过期标红，续费后自动恢复，历史续费记录可查。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8386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机构规模一览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学生数、班级数、教师数，快速判断机构是否真正在用。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4F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72B"/>
                </a:solidFill>
                <a:latin typeface="Microsoft YaHei"/>
              </a:rPr>
              <a:t>家长扫码查看活跃度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565B7A"/>
                </a:solidFill>
                <a:latin typeface="Microsoft YaHei"/>
              </a:rPr>
              <a:t>按学生去重统计当日分享链接被查看次数，侧面反映机构的家校互动热度，也是续约谈判的参考信号。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写给渠道商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为什么这套系统适合被你转售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5B7A"/>
                </a:solidFill>
                <a:latin typeface="Microsoft YaHei"/>
              </a:rPr>
              <a:t>渠道商需要的不只是功能，而是“卖得动、开得快、不用长期驻场”。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29169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F86F7"/>
                </a:solidFill>
                <a:latin typeface="Microsoft YaHei"/>
              </a:rPr>
              <a:t>&lt;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08960"/>
            <a:ext cx="2916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4172B"/>
                </a:solidFill>
                <a:latin typeface="Microsoft YaHei"/>
              </a:rPr>
              <a:t>一键开通新机构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20440"/>
            <a:ext cx="291693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5B7A"/>
                </a:solidFill>
                <a:latin typeface="Microsoft YaHei"/>
              </a:rPr>
              <a:t>渠道商用平台管理员账号即可为新客户开通机构、生成管理员初始账号，无需工程师介入部署。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377440"/>
            <a:ext cx="29169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F86F7"/>
                </a:solidFill>
                <a:latin typeface="Microsoft YaHei"/>
              </a:rPr>
              <a:t>0 驻场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60"/>
            <a:ext cx="2916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4172B"/>
                </a:solidFill>
                <a:latin typeface="Microsoft YaHei"/>
              </a:rPr>
              <a:t>机构自服务运营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520440"/>
            <a:ext cx="291693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5B7A"/>
                </a:solidFill>
                <a:latin typeface="Microsoft YaHei"/>
              </a:rPr>
              <a:t>机构管理员自己创建教师、建班改班、管理密码，日常运营不依赖渠道商现场支持。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103120"/>
            <a:ext cx="3429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377440"/>
            <a:ext cx="29169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F86F7"/>
                </a:solidFill>
                <a:latin typeface="Microsoft YaHei"/>
              </a:rPr>
              <a:t>转发即获客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108960"/>
            <a:ext cx="2916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4172B"/>
                </a:solidFill>
                <a:latin typeface="Microsoft YaHei"/>
              </a:rPr>
              <a:t>家长天然传播链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520440"/>
            <a:ext cx="291693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65B7A"/>
                </a:solidFill>
                <a:latin typeface="Microsoft YaHei"/>
              </a:rPr>
              <a:t>每日成长海报是家长主动愿意转发的内容，帮机构获客，也是续约谈判的现成素材。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86F7"/>
                </a:solidFill>
                <a:latin typeface="Microsoft YaHei"/>
              </a:rPr>
              <a:t>架构与数据可靠性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4172B"/>
                </a:solidFill>
                <a:latin typeface="Microsoft YaHei"/>
              </a:rPr>
              <a:t>培训时能经得起技术追问的细节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机构数据隔离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0020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5B7A"/>
                </a:solidFill>
                <a:latin typeface="Microsoft YaHei"/>
              </a:rPr>
              <a:t>所有接口以登录令牌中的机构 ID 为准，跨机构访问一律返回“不存在”，不暴露其他机构数据存在与否。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13432"/>
            <a:ext cx="10881360" cy="12700"/>
          </a:xfrm>
          <a:prstGeom prst="rect">
            <a:avLst/>
          </a:prstGeom>
          <a:solidFill>
            <a:srgbClr val="E1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历史记录不失真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1460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5B7A"/>
                </a:solidFill>
                <a:latin typeface="Microsoft YaHei"/>
              </a:rPr>
              <a:t>每日任务布置时就把科目、名称、所属班级快照下来，模板改名、学生转班都不会改写已发生的历史记录。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27832"/>
            <a:ext cx="10881360" cy="12700"/>
          </a:xfrm>
          <a:prstGeom prst="rect">
            <a:avLst/>
          </a:prstGeom>
          <a:solidFill>
            <a:srgbClr val="E1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任务模板归档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5B7A"/>
                </a:solidFill>
                <a:latin typeface="Microsoft YaHei"/>
              </a:rPr>
              <a:t>删除仍被历史记录引用的任务模板时系统自动归档而非直接清除，保证打卡记录始终可追溯。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42232"/>
            <a:ext cx="10881360" cy="12700"/>
          </a:xfrm>
          <a:prstGeom prst="rect">
            <a:avLst/>
          </a:prstGeom>
          <a:solidFill>
            <a:srgbClr val="E1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头像隐私保护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34340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5B7A"/>
                </a:solidFill>
                <a:latin typeface="Microsoft YaHei"/>
              </a:rPr>
              <a:t>学生头像仅由教师上传，存放在私有对象存储，读取地址限时有效，学生与家长均无法自行上传或长期外链。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56632"/>
            <a:ext cx="10881360" cy="12700"/>
          </a:xfrm>
          <a:prstGeom prst="rect">
            <a:avLst/>
          </a:prstGeom>
          <a:solidFill>
            <a:srgbClr val="E1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4172B"/>
                </a:solidFill>
                <a:latin typeface="Microsoft YaHei"/>
              </a:rPr>
              <a:t>高风险操作二次确认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25780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5B7A"/>
                </a:solidFill>
                <a:latin typeface="Microsoft YaHei"/>
              </a:rPr>
              <a:t>删除班级/教师、转班、批量消课等操作都会先展示影响范围或弹出二次确认，再执行。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71032"/>
            <a:ext cx="10881360" cy="12700"/>
          </a:xfrm>
          <a:prstGeom prst="rect">
            <a:avLst/>
          </a:prstGeom>
          <a:solidFill>
            <a:srgbClr val="E1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奕成长课后平台 · 产品与渠道介绍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489A6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F86F7"/>
              </a:gs>
              <a:gs pos="100000">
                <a:srgbClr val="9B6B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现场演示比一页文档更有说服力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8961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建议在推广或培训时用一个自建的演示机构走一遍完整流程：建教师、建教学单元、布置任务、点名消课、一键生成账单、生成家长分享链接与成长海报。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63440"/>
            <a:ext cx="7498079" cy="640080"/>
          </a:xfrm>
          <a:prstGeom prst="roundRect">
            <a:avLst/>
          </a:prstGeom>
          <a:solidFill>
            <a:srgbClr val="6D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18888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演示环境与生产数据严格隔离，可放心让机构负责人现场操作试用账号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奕成长课后平台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ABAFCB"/>
                </a:solidFill>
                <a:latin typeface="Microsoft YaHei"/>
              </a:rPr>
              <a:t>托管班学生学习管理系统 · 产品与渠道介绍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